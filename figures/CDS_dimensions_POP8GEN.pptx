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4_993FFDA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A49-8A08-D49D-4AF5-E90727E5B2D6}" name="GOBINET Maelis" initials="MG" userId="S::maelis.gobinet@etu.univ-amu.fr::ca1ac5aa-d378-4b8c-90e8-1a8abbcef7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  <a:srgbClr val="78206E"/>
    <a:srgbClr val="160125"/>
    <a:srgbClr val="F0C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404" autoAdjust="0"/>
  </p:normalViewPr>
  <p:slideViewPr>
    <p:cSldViewPr snapToGrid="0">
      <p:cViewPr>
        <p:scale>
          <a:sx n="100" d="100"/>
          <a:sy n="100" d="100"/>
        </p:scale>
        <p:origin x="-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4_993FFD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9925F4-50A2-4B8D-BA6E-A251AFD6990F}" authorId="{9D70BA49-8A08-D49D-4AF5-E90727E5B2D6}" created="2026-10-09T16:55:55.7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71107746" sldId="260"/>
      <ac:spMk id="4" creationId="{A2D7CF85-B410-2C6E-F1AD-F245AB74E0E2}"/>
    </ac:deMkLst>
    <p188:replyLst>
      <p188:reply id="{58A4F538-62D1-4059-8537-2DE342660390}" authorId="{9D70BA49-8A08-D49D-4AF5-E90727E5B2D6}" created="2026-10-09T17:00:54.209">
        <p188:txBody>
          <a:bodyPr/>
          <a:lstStyle/>
          <a:p>
            <a:r>
              <a:rPr lang="en-US"/>
              <a:t>Self detachment</a:t>
            </a:r>
          </a:p>
        </p188:txBody>
      </p188:reply>
    </p188:replyLst>
    <p188:txBody>
      <a:bodyPr/>
      <a:lstStyle/>
      <a:p>
        <a:r>
          <a:rPr lang="en-US"/>
          <a:t>Close to Unreality of self + Perceptual alterations Simeon 2008
Close to Anomalous Body Experience Sierra et Berrios 2005</a:t>
        </a:r>
      </a:p>
    </p188:txBody>
  </p188:cm>
  <p188:cm id="{5F2F62C7-B65E-4FF6-B620-D8B0ED73BEE7}" authorId="{9D70BA49-8A08-D49D-4AF5-E90727E5B2D6}" created="2026-10-09T16:56:23.0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71107746" sldId="260"/>
      <ac:spMk id="5" creationId="{EC2BA974-94AD-7E27-ED6F-AA8A412B6BDD}"/>
    </ac:deMkLst>
    <p188:replyLst>
      <p188:reply id="{0AA0D867-BDED-43CB-A0F6-5D376F312072}" authorId="{9D70BA49-8A08-D49D-4AF5-E90727E5B2D6}" created="2026-10-09T17:01:18.194">
        <p188:txBody>
          <a:bodyPr/>
          <a:lstStyle/>
          <a:p>
            <a:r>
              <a:rPr lang="en-US"/>
              <a:t>Sensory/emotional numbing</a:t>
            </a:r>
          </a:p>
        </p188:txBody>
      </p188:reply>
    </p188:replyLst>
    <p188:txBody>
      <a:bodyPr/>
      <a:lstStyle/>
      <a:p>
        <a:r>
          <a:rPr lang="en-US"/>
          <a:t>Close to Emotional Numbing Sierra et Berrios 2005 ET Numbing Simeon 2008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D77CB-895C-4716-9BF4-5671FF00D98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5B1E2-1858-4CA6-A15A-43FA67D5BF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0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E9BB-8F83-8A09-DE94-6EA7DCD6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47C3BE-4094-8ABE-BCA8-9B193DCD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9329F8-10F3-67FA-412E-5F767D790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955FEB-1091-E232-46B6-D49F4C5DB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5B1E2-1858-4CA6-A15A-43FA67D5BF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96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F9319-57F6-E123-2FAF-E918B1A28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6031A4C-A779-29AE-0AD6-AAB250D67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403591-23E2-397E-3621-4844B19B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D428A4-6005-2B83-1D64-368C866F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82F2C-FBB5-A499-18AA-5FD10541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33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BDBBD-C220-9005-09A9-3D1F5AFA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976FA6-2F3E-5107-1DA3-EC1F6C5DD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876383-ACAE-DE43-A6B8-8B2A802D3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1FF55A-DA3D-6638-4798-FB1BC346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E86337-E9B8-8E46-B070-F89D837D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04BF9-4C6B-7E23-447B-F20250F3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8A376C-BEA0-5FCF-672B-340A409CB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A763F4-B628-0B24-680D-3AF639C7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5D6C1D-5792-DF08-DF28-6DCADF97F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FF7479-A002-4757-DED6-46D93889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2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143FE-6E6F-233B-2478-5B399BDC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5A9FB8-5CB6-9EA5-5F83-9EF973C66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593BCF-D067-A084-87A4-0D5D76ECB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4F56CD-AC2B-F2C2-7244-04E5F507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0FFBC5-A103-ABEB-A12D-612FA7FD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2F264C-9BCF-ECAB-B69C-04F11CCA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76775-5E7B-8603-EBB1-FA0FC446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9B3B67-5295-1DF3-DF50-159F08B54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572BA3-008F-5140-CDA5-7FF6E53B1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DC02B7-5C42-AE12-C068-F23BEDBAA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AE987D6-118F-55DB-5039-184B01DB7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7BA406A-14C3-9B1E-C632-A6FCDA30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1D9ABEE-34B5-A4A3-2122-E88154A1A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BD85B16-A2B8-3B3C-20F0-AE320876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F5C70-AE2A-B983-84B8-9085CEEE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26376B9-AA68-D564-77F7-F104DD16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535084-C8B3-BD54-88DB-AE540C5F1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4F21DB-9FB6-0FC9-DD22-309C0E63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04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C63B31-9631-D65D-5BB2-593EFE33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E73A7C2-5762-FEAD-5474-F4124544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A8B850-F6A0-29CA-E410-67A0664E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1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7E542-45FB-9407-B263-99A75516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A28948-72EF-CA7E-1176-04D149910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C831A0-A073-FA92-9DC6-F3695486C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E62187-7FEB-A22C-7EE1-B539209B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6235BF-2A9F-A887-594B-747BA968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63B594-BD63-B6DA-7ED2-B500E2BF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1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F4F6B1-6350-3A8F-DB32-A2C8216F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38A84ED-3AD3-C49F-64A9-FDE472CBD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80C9D5-6B31-1A59-706F-D1241C040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20B376-1604-E6CE-C78F-0E85603D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6DFA21-BA97-74ED-CB84-FBFEE2C1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42981F-E936-60A9-F6AD-78025E51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4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E10F04-5DA3-251E-04D1-2257B049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9531E8B-DA9D-8F59-F304-097629C2B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D2F1ED-AADA-CB6B-23CE-2B9B4B33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00E9B2-7E11-4417-2803-B61619A60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F1807D-CB08-2FF1-9C70-024B61B7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6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F62B124-EF35-A739-5332-8834A362D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53CF67-11D1-A369-5E9F-26F7A56F0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72FBF-2C93-5EBD-6C74-F1611A3AD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5997F9-2615-CADE-3C6D-B0CAC23C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09A386-D746-E4AA-C692-D163C657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1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39AEFB0-353B-54EB-61C3-D76787E7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94028E-EB97-971A-F704-0360F8825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7AED49-C138-4B64-A10A-079F5EA82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1C97A-706B-4236-A8E5-3358056837E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168DDC-5C45-7012-CA23-8B8973C12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70B341-BE76-8FFF-FA34-EC18B243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EB192-D075-437C-9A92-523FEB85BFD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993FFDA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D93E-14EA-8290-B09B-8D5DA7B96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A2D7CF85-B410-2C6E-F1AD-F245AB74E0E2}"/>
              </a:ext>
            </a:extLst>
          </p:cNvPr>
          <p:cNvSpPr/>
          <p:nvPr/>
        </p:nvSpPr>
        <p:spPr>
          <a:xfrm>
            <a:off x="7451547" y="1234869"/>
            <a:ext cx="1863851" cy="1704097"/>
          </a:xfrm>
          <a:prstGeom prst="ellipse">
            <a:avLst/>
          </a:prstGeom>
          <a:solidFill>
            <a:srgbClr val="78206E">
              <a:alpha val="10196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1 :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C2BA974-94AD-7E27-ED6F-AA8A412B6BDD}"/>
              </a:ext>
            </a:extLst>
          </p:cNvPr>
          <p:cNvSpPr/>
          <p:nvPr/>
        </p:nvSpPr>
        <p:spPr>
          <a:xfrm>
            <a:off x="7451546" y="4219843"/>
            <a:ext cx="1863851" cy="1704097"/>
          </a:xfrm>
          <a:prstGeom prst="ellipse">
            <a:avLst/>
          </a:prstGeom>
          <a:solidFill>
            <a:srgbClr val="78206E">
              <a:alpha val="10196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2 :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3C35112-8DF7-A6B5-34EB-24142AA655AC}"/>
              </a:ext>
            </a:extLst>
          </p:cNvPr>
          <p:cNvSpPr/>
          <p:nvPr/>
        </p:nvSpPr>
        <p:spPr>
          <a:xfrm>
            <a:off x="2628115" y="4228091"/>
            <a:ext cx="4474540" cy="262952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Favorite activities no more enjoyable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1C3233C-3593-4745-E909-4CE97D4ACF98}"/>
              </a:ext>
            </a:extLst>
          </p:cNvPr>
          <p:cNvCxnSpPr>
            <a:cxnSpLocks/>
            <a:stCxn id="11" idx="3"/>
            <a:endCxn id="4" idx="2"/>
          </p:cNvCxnSpPr>
          <p:nvPr/>
        </p:nvCxnSpPr>
        <p:spPr>
          <a:xfrm>
            <a:off x="7102656" y="665883"/>
            <a:ext cx="348891" cy="1421035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7171A9BB-E96F-09BF-CF64-C02F2E947554}"/>
              </a:ext>
            </a:extLst>
          </p:cNvPr>
          <p:cNvSpPr txBox="1"/>
          <p:nvPr/>
        </p:nvSpPr>
        <p:spPr>
          <a:xfrm>
            <a:off x="7615376" y="924889"/>
            <a:ext cx="1536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ɑ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0.83</a:t>
            </a:r>
            <a:endParaRPr lang="en-US" sz="11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AD109E4-B85C-4AD7-E244-3A58A6A9F3AD}"/>
              </a:ext>
            </a:extLst>
          </p:cNvPr>
          <p:cNvSpPr txBox="1"/>
          <p:nvPr/>
        </p:nvSpPr>
        <p:spPr>
          <a:xfrm>
            <a:off x="7615375" y="3922806"/>
            <a:ext cx="1536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ɑ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0.66</a:t>
            </a:r>
            <a:endParaRPr lang="en-US" sz="11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D4075CA-21C5-6CF0-46A5-A6D2BE4E6706}"/>
              </a:ext>
            </a:extLst>
          </p:cNvPr>
          <p:cNvSpPr/>
          <p:nvPr/>
        </p:nvSpPr>
        <p:spPr>
          <a:xfrm>
            <a:off x="2628116" y="539894"/>
            <a:ext cx="4474540" cy="251977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Feeling strange, as if not real or cut off from the world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4A738FA-53F7-FFDD-9ABC-C7145687358A}"/>
              </a:ext>
            </a:extLst>
          </p:cNvPr>
          <p:cNvSpPr/>
          <p:nvPr/>
        </p:nvSpPr>
        <p:spPr>
          <a:xfrm>
            <a:off x="2628116" y="815967"/>
            <a:ext cx="4474541" cy="254900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Things look flat as if I were looking at a picture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BAFD718-1148-637E-A697-CF80C28E8976}"/>
              </a:ext>
            </a:extLst>
          </p:cNvPr>
          <p:cNvSpPr/>
          <p:nvPr/>
        </p:nvSpPr>
        <p:spPr>
          <a:xfrm>
            <a:off x="2628116" y="1092375"/>
            <a:ext cx="4474541" cy="254900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Parts of my body feel not belonging to self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365417C-71B6-9C82-E251-74032BB9A54B}"/>
              </a:ext>
            </a:extLst>
          </p:cNvPr>
          <p:cNvSpPr/>
          <p:nvPr/>
        </p:nvSpPr>
        <p:spPr>
          <a:xfrm>
            <a:off x="2628116" y="1373714"/>
            <a:ext cx="4474541" cy="254900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Feeling of being a ‘detached observer’ of oneself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77A52EE-4ADC-E9D0-C7EF-726A3F3D1099}"/>
              </a:ext>
            </a:extLst>
          </p:cNvPr>
          <p:cNvSpPr/>
          <p:nvPr/>
        </p:nvSpPr>
        <p:spPr>
          <a:xfrm>
            <a:off x="2621264" y="1948419"/>
            <a:ext cx="4474541" cy="276999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Feeling of not having any thoughts at all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F6FEAD45-CF96-66E3-E0ED-559A7DB280C3}"/>
              </a:ext>
            </a:extLst>
          </p:cNvPr>
          <p:cNvSpPr/>
          <p:nvPr/>
        </p:nvSpPr>
        <p:spPr>
          <a:xfrm>
            <a:off x="2621264" y="2248289"/>
            <a:ext cx="4474541" cy="254900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 Surroundings feel detached or unreal.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F66CFD4D-ABB4-6010-48CA-0292733AACA5}"/>
              </a:ext>
            </a:extLst>
          </p:cNvPr>
          <p:cNvSpPr/>
          <p:nvPr/>
        </p:nvSpPr>
        <p:spPr>
          <a:xfrm>
            <a:off x="2625375" y="2804722"/>
            <a:ext cx="4474541" cy="254900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23. Feeling of being outside the body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4C1784B6-04ED-7A84-E872-3E091CD3931E}"/>
              </a:ext>
            </a:extLst>
          </p:cNvPr>
          <p:cNvSpPr/>
          <p:nvPr/>
        </p:nvSpPr>
        <p:spPr>
          <a:xfrm>
            <a:off x="2625375" y="3091618"/>
            <a:ext cx="4474541" cy="260812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24. Feeling automatic and ‘robotic’ when moving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E9D8CDEF-8CD4-9B17-1E5D-A30457F3384B}"/>
              </a:ext>
            </a:extLst>
          </p:cNvPr>
          <p:cNvSpPr/>
          <p:nvPr/>
        </p:nvSpPr>
        <p:spPr>
          <a:xfrm>
            <a:off x="2621263" y="4818413"/>
            <a:ext cx="4474540" cy="254900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No emotion when laughing or crying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83A27DBD-7066-66EF-A91D-909A34ECB4C1}"/>
              </a:ext>
            </a:extLst>
          </p:cNvPr>
          <p:cNvSpPr/>
          <p:nvPr/>
        </p:nvSpPr>
        <p:spPr>
          <a:xfrm>
            <a:off x="2622636" y="3371175"/>
            <a:ext cx="4474540" cy="260812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26. Feeling of detachment from thoughts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3173D3B7-5A7E-94EC-9FEE-50B98E25F070}"/>
              </a:ext>
            </a:extLst>
          </p:cNvPr>
          <p:cNvSpPr/>
          <p:nvPr/>
        </p:nvSpPr>
        <p:spPr>
          <a:xfrm>
            <a:off x="2634967" y="5702763"/>
            <a:ext cx="4474540" cy="261355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29. Feeling of unfamiliarity in familiar places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41D7942E-53C1-EDE0-D062-604560F0082A}"/>
              </a:ext>
            </a:extLst>
          </p:cNvPr>
          <p:cNvCxnSpPr>
            <a:cxnSpLocks/>
            <a:stCxn id="21" idx="3"/>
            <a:endCxn id="4" idx="2"/>
          </p:cNvCxnSpPr>
          <p:nvPr/>
        </p:nvCxnSpPr>
        <p:spPr>
          <a:xfrm>
            <a:off x="7102657" y="943417"/>
            <a:ext cx="348890" cy="1143501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341FE121-5D50-CB5E-35A4-D8CF95AC87AB}"/>
              </a:ext>
            </a:extLst>
          </p:cNvPr>
          <p:cNvCxnSpPr>
            <a:cxnSpLocks/>
            <a:stCxn id="23" idx="3"/>
            <a:endCxn id="4" idx="2"/>
          </p:cNvCxnSpPr>
          <p:nvPr/>
        </p:nvCxnSpPr>
        <p:spPr>
          <a:xfrm>
            <a:off x="7102657" y="1219825"/>
            <a:ext cx="348890" cy="867093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23C555A4-8CEE-D266-EE28-CE86877D3333}"/>
              </a:ext>
            </a:extLst>
          </p:cNvPr>
          <p:cNvCxnSpPr>
            <a:cxnSpLocks/>
            <a:stCxn id="24" idx="3"/>
            <a:endCxn id="4" idx="2"/>
          </p:cNvCxnSpPr>
          <p:nvPr/>
        </p:nvCxnSpPr>
        <p:spPr>
          <a:xfrm>
            <a:off x="7102657" y="1501164"/>
            <a:ext cx="348890" cy="58575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7250DFE5-6274-1764-141D-A317B588A865}"/>
              </a:ext>
            </a:extLst>
          </p:cNvPr>
          <p:cNvCxnSpPr>
            <a:cxnSpLocks/>
            <a:stCxn id="25" idx="3"/>
            <a:endCxn id="4" idx="2"/>
          </p:cNvCxnSpPr>
          <p:nvPr/>
        </p:nvCxnSpPr>
        <p:spPr>
          <a:xfrm flipV="1">
            <a:off x="7095805" y="2086918"/>
            <a:ext cx="355742" cy="1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738CE437-AB16-8998-6E70-554655704AD8}"/>
              </a:ext>
            </a:extLst>
          </p:cNvPr>
          <p:cNvCxnSpPr>
            <a:cxnSpLocks/>
            <a:stCxn id="26" idx="3"/>
            <a:endCxn id="4" idx="2"/>
          </p:cNvCxnSpPr>
          <p:nvPr/>
        </p:nvCxnSpPr>
        <p:spPr>
          <a:xfrm flipV="1">
            <a:off x="7095805" y="2086918"/>
            <a:ext cx="355742" cy="288821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BCB3CEDC-68E4-6F21-19DE-4F70E3DCE0F5}"/>
              </a:ext>
            </a:extLst>
          </p:cNvPr>
          <p:cNvCxnSpPr>
            <a:cxnSpLocks/>
            <a:stCxn id="27" idx="3"/>
            <a:endCxn id="4" idx="2"/>
          </p:cNvCxnSpPr>
          <p:nvPr/>
        </p:nvCxnSpPr>
        <p:spPr>
          <a:xfrm flipV="1">
            <a:off x="7099916" y="2086918"/>
            <a:ext cx="351631" cy="84525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F0F5E1E9-AF61-DCEC-070E-188F08DDAAD5}"/>
              </a:ext>
            </a:extLst>
          </p:cNvPr>
          <p:cNvCxnSpPr>
            <a:cxnSpLocks/>
            <a:stCxn id="30" idx="3"/>
            <a:endCxn id="4" idx="2"/>
          </p:cNvCxnSpPr>
          <p:nvPr/>
        </p:nvCxnSpPr>
        <p:spPr>
          <a:xfrm flipV="1">
            <a:off x="7099916" y="2086918"/>
            <a:ext cx="351631" cy="1135106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CE76B4AB-8F12-111B-A62E-B3F970DC632E}"/>
              </a:ext>
            </a:extLst>
          </p:cNvPr>
          <p:cNvCxnSpPr>
            <a:cxnSpLocks/>
            <a:stCxn id="15" idx="3"/>
            <a:endCxn id="5" idx="2"/>
          </p:cNvCxnSpPr>
          <p:nvPr/>
        </p:nvCxnSpPr>
        <p:spPr>
          <a:xfrm>
            <a:off x="7102655" y="4359567"/>
            <a:ext cx="348891" cy="712325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93A767B4-CFE1-D96E-4F19-7E362F897ED2}"/>
              </a:ext>
            </a:extLst>
          </p:cNvPr>
          <p:cNvCxnSpPr>
            <a:cxnSpLocks/>
            <a:stCxn id="108" idx="3"/>
            <a:endCxn id="5" idx="2"/>
          </p:cNvCxnSpPr>
          <p:nvPr/>
        </p:nvCxnSpPr>
        <p:spPr>
          <a:xfrm>
            <a:off x="7102655" y="4651060"/>
            <a:ext cx="348891" cy="420832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09B13F13-BB73-CA2B-B294-8F80D0FFF8F1}"/>
              </a:ext>
            </a:extLst>
          </p:cNvPr>
          <p:cNvCxnSpPr>
            <a:cxnSpLocks/>
            <a:stCxn id="39" idx="3"/>
            <a:endCxn id="5" idx="2"/>
          </p:cNvCxnSpPr>
          <p:nvPr/>
        </p:nvCxnSpPr>
        <p:spPr>
          <a:xfrm>
            <a:off x="7095803" y="4945863"/>
            <a:ext cx="355743" cy="126029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120CE4F7-45C5-9271-4F82-996AB1CB2C09}"/>
              </a:ext>
            </a:extLst>
          </p:cNvPr>
          <p:cNvCxnSpPr>
            <a:cxnSpLocks/>
            <a:stCxn id="111" idx="3"/>
            <a:endCxn id="5" idx="2"/>
          </p:cNvCxnSpPr>
          <p:nvPr/>
        </p:nvCxnSpPr>
        <p:spPr>
          <a:xfrm flipV="1">
            <a:off x="7102655" y="5071892"/>
            <a:ext cx="348891" cy="163609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6339CDFC-B1CF-7CE8-367E-B8D4AD2C4894}"/>
              </a:ext>
            </a:extLst>
          </p:cNvPr>
          <p:cNvCxnSpPr>
            <a:cxnSpLocks/>
            <a:stCxn id="109" idx="3"/>
            <a:endCxn id="5" idx="2"/>
          </p:cNvCxnSpPr>
          <p:nvPr/>
        </p:nvCxnSpPr>
        <p:spPr>
          <a:xfrm flipV="1">
            <a:off x="7102655" y="5071892"/>
            <a:ext cx="348891" cy="464775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961A0656-19C3-5C10-196D-ACC9DEC15C01}"/>
              </a:ext>
            </a:extLst>
          </p:cNvPr>
          <p:cNvCxnSpPr>
            <a:cxnSpLocks/>
            <a:stCxn id="41" idx="3"/>
            <a:endCxn id="4" idx="2"/>
          </p:cNvCxnSpPr>
          <p:nvPr/>
        </p:nvCxnSpPr>
        <p:spPr>
          <a:xfrm flipV="1">
            <a:off x="7097176" y="2086918"/>
            <a:ext cx="354371" cy="1414663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D5056818-710D-883B-BE10-F091D7862AB4}"/>
              </a:ext>
            </a:extLst>
          </p:cNvPr>
          <p:cNvCxnSpPr>
            <a:cxnSpLocks/>
            <a:stCxn id="43" idx="3"/>
            <a:endCxn id="5" idx="2"/>
          </p:cNvCxnSpPr>
          <p:nvPr/>
        </p:nvCxnSpPr>
        <p:spPr>
          <a:xfrm flipV="1">
            <a:off x="7109507" y="5071892"/>
            <a:ext cx="342039" cy="761549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7A02254-EE55-B254-F399-6F251BE31477}"/>
              </a:ext>
            </a:extLst>
          </p:cNvPr>
          <p:cNvSpPr/>
          <p:nvPr/>
        </p:nvSpPr>
        <p:spPr>
          <a:xfrm>
            <a:off x="2628116" y="1650017"/>
            <a:ext cx="4474541" cy="276999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Body feels light, as floating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9DEDD7B1-AB87-A35B-9A94-3D372922599E}"/>
              </a:ext>
            </a:extLst>
          </p:cNvPr>
          <p:cNvCxnSpPr>
            <a:cxnSpLocks/>
            <a:stCxn id="14" idx="3"/>
            <a:endCxn id="4" idx="2"/>
          </p:cNvCxnSpPr>
          <p:nvPr/>
        </p:nvCxnSpPr>
        <p:spPr>
          <a:xfrm>
            <a:off x="7102657" y="1788517"/>
            <a:ext cx="348890" cy="298401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CD83313-D3CC-735F-7BCE-AF4DE95D5B1D}"/>
              </a:ext>
            </a:extLst>
          </p:cNvPr>
          <p:cNvSpPr/>
          <p:nvPr/>
        </p:nvSpPr>
        <p:spPr>
          <a:xfrm>
            <a:off x="2622635" y="2528419"/>
            <a:ext cx="4474541" cy="254900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 Autoscopy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6D8AE66E-66B0-56E6-C96D-950957637C14}"/>
              </a:ext>
            </a:extLst>
          </p:cNvPr>
          <p:cNvCxnSpPr>
            <a:cxnSpLocks/>
            <a:stCxn id="19" idx="3"/>
            <a:endCxn id="4" idx="2"/>
          </p:cNvCxnSpPr>
          <p:nvPr/>
        </p:nvCxnSpPr>
        <p:spPr>
          <a:xfrm flipV="1">
            <a:off x="7097176" y="2086918"/>
            <a:ext cx="354371" cy="568951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 : coins arrondis 107">
            <a:extLst>
              <a:ext uri="{FF2B5EF4-FFF2-40B4-BE49-F238E27FC236}">
                <a16:creationId xmlns:a16="http://schemas.microsoft.com/office/drawing/2014/main" id="{2BBC0CBB-B36F-C978-DE6E-D995CD620E67}"/>
              </a:ext>
            </a:extLst>
          </p:cNvPr>
          <p:cNvSpPr/>
          <p:nvPr/>
        </p:nvSpPr>
        <p:spPr>
          <a:xfrm>
            <a:off x="2628115" y="4515880"/>
            <a:ext cx="4474540" cy="270359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Flavor of meals no longer gives pleasure or distaste.</a:t>
            </a:r>
          </a:p>
        </p:txBody>
      </p: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6ECABDEE-D54F-F30E-616A-788BBBEB1F8B}"/>
              </a:ext>
            </a:extLst>
          </p:cNvPr>
          <p:cNvSpPr/>
          <p:nvPr/>
        </p:nvSpPr>
        <p:spPr>
          <a:xfrm>
            <a:off x="2628115" y="5406654"/>
            <a:ext cx="4474540" cy="260025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28. Unable to feel hunger or thirst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635717AA-5ABA-EC29-2243-F5AB694567D8}"/>
              </a:ext>
            </a:extLst>
          </p:cNvPr>
          <p:cNvSpPr/>
          <p:nvPr/>
        </p:nvSpPr>
        <p:spPr>
          <a:xfrm>
            <a:off x="2628115" y="5105488"/>
            <a:ext cx="4474540" cy="260025"/>
          </a:xfrm>
          <a:prstGeom prst="roundRect">
            <a:avLst/>
          </a:prstGeom>
          <a:solidFill>
            <a:srgbClr val="FBE3D6">
              <a:alpha val="10196"/>
            </a:srgb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25. Smell of things no longer gives pleasure or dislike.</a:t>
            </a:r>
          </a:p>
        </p:txBody>
      </p:sp>
    </p:spTree>
    <p:extLst>
      <p:ext uri="{BB962C8B-B14F-4D97-AF65-F5344CB8AC3E}">
        <p14:creationId xmlns:p14="http://schemas.microsoft.com/office/powerpoint/2010/main" val="2571107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</TotalTime>
  <Words>173</Words>
  <Application>Microsoft Office PowerPoint</Application>
  <PresentationFormat>Grand écran</PresentationFormat>
  <Paragraphs>22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GOBINET Maelis</dc:creator>
  <cp:lastModifiedBy>GOBINET Maelis</cp:lastModifiedBy>
  <cp:revision>28</cp:revision>
  <dcterms:created xsi:type="dcterms:W3CDTF">2025-05-23T13:12:37Z</dcterms:created>
  <dcterms:modified xsi:type="dcterms:W3CDTF">2026-10-16T19:42:39Z</dcterms:modified>
</cp:coreProperties>
</file>